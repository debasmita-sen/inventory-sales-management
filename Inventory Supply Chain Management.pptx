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embeddedFontLst>
    <p:embeddedFont>
      <p:font typeface="Lato" panose="020B0604020202020204" charset="0"/>
      <p:regular r:id="rId20"/>
      <p:bold r:id="rId21"/>
      <p:italic r:id="rId22"/>
      <p:boldItalic r:id="rId23"/>
    </p:embeddedFont>
    <p:embeddedFont>
      <p:font typeface="Poppi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5F5318-64C5-E46B-8A1C-6FFE3351F972}" v="2" dt="2026-05-20T05:37:25.668"/>
    <p1510:client id="{E1EF061B-9322-44DC-AB05-56AA3DB4E0C0}" v="10" dt="2026-05-20T05:32:41.994"/>
  </p1510:revLst>
</p1510:revInfo>
</file>

<file path=ppt/tableStyles.xml><?xml version="1.0" encoding="utf-8"?>
<a:tblStyleLst xmlns:a="http://schemas.openxmlformats.org/drawingml/2006/main" def="{DC73472B-B3E6-411D-BCD4-AE809300D954}">
  <a:tblStyle styleId="{DC73472B-B3E6-411D-BCD4-AE809300D95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pali Jain" userId="d1f446ea916a66e4" providerId="Windows Live" clId="Web-{CB5F5318-64C5-E46B-8A1C-6FFE3351F972}"/>
    <pc:docChg chg="modSld">
      <pc:chgData name="Rupali Jain" userId="d1f446ea916a66e4" providerId="Windows Live" clId="Web-{CB5F5318-64C5-E46B-8A1C-6FFE3351F972}" dt="2026-05-20T05:37:25.668" v="1" actId="1076"/>
      <pc:docMkLst>
        <pc:docMk/>
      </pc:docMkLst>
      <pc:sldChg chg="modSp">
        <pc:chgData name="Rupali Jain" userId="d1f446ea916a66e4" providerId="Windows Live" clId="Web-{CB5F5318-64C5-E46B-8A1C-6FFE3351F972}" dt="2026-05-20T05:37:25.668" v="1" actId="1076"/>
        <pc:sldMkLst>
          <pc:docMk/>
          <pc:sldMk cId="0" sldId="257"/>
        </pc:sldMkLst>
        <pc:picChg chg="mod">
          <ac:chgData name="Rupali Jain" userId="d1f446ea916a66e4" providerId="Windows Live" clId="Web-{CB5F5318-64C5-E46B-8A1C-6FFE3351F972}" dt="2026-05-20T05:37:25.668" v="1" actId="1076"/>
          <ac:picMkLst>
            <pc:docMk/>
            <pc:sldMk cId="0" sldId="257"/>
            <ac:picMk id="99" creationId="{00000000-0000-0000-0000-000000000000}"/>
          </ac:picMkLst>
        </pc:picChg>
      </pc:sldChg>
    </pc:docChg>
  </pc:docChgLst>
  <pc:docChgLst>
    <pc:chgData name="Debasmita Sen" userId="604a8659d3ad02fe" providerId="LiveId" clId="{DAC3D150-A8BE-47BC-BA0D-D11B470FD69E}"/>
    <pc:docChg chg="undo custSel modSld">
      <pc:chgData name="Debasmita Sen" userId="604a8659d3ad02fe" providerId="LiveId" clId="{DAC3D150-A8BE-47BC-BA0D-D11B470FD69E}" dt="2026-05-20T05:32:41.994" v="289" actId="14100"/>
      <pc:docMkLst>
        <pc:docMk/>
      </pc:docMkLst>
      <pc:sldChg chg="addSp modSp mod">
        <pc:chgData name="Debasmita Sen" userId="604a8659d3ad02fe" providerId="LiveId" clId="{DAC3D150-A8BE-47BC-BA0D-D11B470FD69E}" dt="2026-05-20T05:32:41.994" v="289" actId="14100"/>
        <pc:sldMkLst>
          <pc:docMk/>
          <pc:sldMk cId="0" sldId="256"/>
        </pc:sldMkLst>
        <pc:picChg chg="add mod">
          <ac:chgData name="Debasmita Sen" userId="604a8659d3ad02fe" providerId="LiveId" clId="{DAC3D150-A8BE-47BC-BA0D-D11B470FD69E}" dt="2026-05-20T05:32:41.994" v="289" actId="14100"/>
          <ac:picMkLst>
            <pc:docMk/>
            <pc:sldMk cId="0" sldId="256"/>
            <ac:picMk id="3" creationId="{2D47E9AC-F3F2-18C9-F5FE-983C723AF880}"/>
          </ac:picMkLst>
        </pc:picChg>
      </pc:sldChg>
      <pc:sldChg chg="addSp delSp modSp mod">
        <pc:chgData name="Debasmita Sen" userId="604a8659d3ad02fe" providerId="LiveId" clId="{DAC3D150-A8BE-47BC-BA0D-D11B470FD69E}" dt="2026-05-20T05:19:46.904" v="285"/>
        <pc:sldMkLst>
          <pc:docMk/>
          <pc:sldMk cId="0" sldId="263"/>
        </pc:sldMkLst>
        <pc:spChg chg="add del mod">
          <ac:chgData name="Debasmita Sen" userId="604a8659d3ad02fe" providerId="LiveId" clId="{DAC3D150-A8BE-47BC-BA0D-D11B470FD69E}" dt="2026-05-20T05:00:42.998" v="96" actId="478"/>
          <ac:spMkLst>
            <pc:docMk/>
            <pc:sldMk cId="0" sldId="263"/>
            <ac:spMk id="2" creationId="{873103C9-AD76-7124-1BA9-B51DC54848CF}"/>
          </ac:spMkLst>
        </pc:spChg>
        <pc:spChg chg="add del mod">
          <ac:chgData name="Debasmita Sen" userId="604a8659d3ad02fe" providerId="LiveId" clId="{DAC3D150-A8BE-47BC-BA0D-D11B470FD69E}" dt="2026-05-20T05:19:46.904" v="285"/>
          <ac:spMkLst>
            <pc:docMk/>
            <pc:sldMk cId="0" sldId="263"/>
            <ac:spMk id="7" creationId="{673CA96C-93A3-202C-A219-79CD20701D05}"/>
          </ac:spMkLst>
        </pc:spChg>
        <pc:spChg chg="add mod">
          <ac:chgData name="Debasmita Sen" userId="604a8659d3ad02fe" providerId="LiveId" clId="{DAC3D150-A8BE-47BC-BA0D-D11B470FD69E}" dt="2026-05-20T05:14:18.207" v="193" actId="207"/>
          <ac:spMkLst>
            <pc:docMk/>
            <pc:sldMk cId="0" sldId="263"/>
            <ac:spMk id="8" creationId="{49E3C88A-6771-7184-9AE5-D959EB670394}"/>
          </ac:spMkLst>
        </pc:spChg>
        <pc:spChg chg="add mod">
          <ac:chgData name="Debasmita Sen" userId="604a8659d3ad02fe" providerId="LiveId" clId="{DAC3D150-A8BE-47BC-BA0D-D11B470FD69E}" dt="2026-05-20T05:15:22.601" v="201" actId="207"/>
          <ac:spMkLst>
            <pc:docMk/>
            <pc:sldMk cId="0" sldId="263"/>
            <ac:spMk id="9" creationId="{88D78A02-0819-9350-02FE-20063179E6B4}"/>
          </ac:spMkLst>
        </pc:spChg>
        <pc:spChg chg="add mod">
          <ac:chgData name="Debasmita Sen" userId="604a8659d3ad02fe" providerId="LiveId" clId="{DAC3D150-A8BE-47BC-BA0D-D11B470FD69E}" dt="2026-05-20T05:18:50.738" v="276" actId="14100"/>
          <ac:spMkLst>
            <pc:docMk/>
            <pc:sldMk cId="0" sldId="263"/>
            <ac:spMk id="10" creationId="{189019EF-37EE-9CBB-F098-C2344189B0DA}"/>
          </ac:spMkLst>
        </pc:spChg>
        <pc:spChg chg="add mod">
          <ac:chgData name="Debasmita Sen" userId="604a8659d3ad02fe" providerId="LiveId" clId="{DAC3D150-A8BE-47BC-BA0D-D11B470FD69E}" dt="2026-05-20T05:19:40.266" v="283" actId="207"/>
          <ac:spMkLst>
            <pc:docMk/>
            <pc:sldMk cId="0" sldId="263"/>
            <ac:spMk id="11" creationId="{3875BF1B-4D23-B661-4297-B350E6D95012}"/>
          </ac:spMkLst>
        </pc:spChg>
        <pc:picChg chg="add mod">
          <ac:chgData name="Debasmita Sen" userId="604a8659d3ad02fe" providerId="LiveId" clId="{DAC3D150-A8BE-47BC-BA0D-D11B470FD69E}" dt="2026-05-20T05:08:04.181" v="111" actId="1076"/>
          <ac:picMkLst>
            <pc:docMk/>
            <pc:sldMk cId="0" sldId="263"/>
            <ac:picMk id="4" creationId="{9A9B8B8F-A1AF-623B-1884-1F3D5222F073}"/>
          </ac:picMkLst>
        </pc:picChg>
        <pc:picChg chg="add mod">
          <ac:chgData name="Debasmita Sen" userId="604a8659d3ad02fe" providerId="LiveId" clId="{DAC3D150-A8BE-47BC-BA0D-D11B470FD69E}" dt="2026-05-20T05:09:15.003" v="115" actId="14100"/>
          <ac:picMkLst>
            <pc:docMk/>
            <pc:sldMk cId="0" sldId="263"/>
            <ac:picMk id="6" creationId="{A27E2E92-87CB-05A0-C493-0F35D3E27425}"/>
          </ac:picMkLst>
        </pc:picChg>
        <pc:picChg chg="mod">
          <ac:chgData name="Debasmita Sen" userId="604a8659d3ad02fe" providerId="LiveId" clId="{DAC3D150-A8BE-47BC-BA0D-D11B470FD69E}" dt="2026-05-20T05:16:45.683" v="261" actId="1076"/>
          <ac:picMkLst>
            <pc:docMk/>
            <pc:sldMk cId="0" sldId="263"/>
            <ac:picMk id="202" creationId="{00000000-0000-0000-0000-000000000000}"/>
          </ac:picMkLst>
        </pc:picChg>
        <pc:picChg chg="del">
          <ac:chgData name="Debasmita Sen" userId="604a8659d3ad02fe" providerId="LiveId" clId="{DAC3D150-A8BE-47BC-BA0D-D11B470FD69E}" dt="2026-05-20T05:04:00.589" v="108" actId="478"/>
          <ac:picMkLst>
            <pc:docMk/>
            <pc:sldMk cId="0" sldId="263"/>
            <ac:picMk id="203" creationId="{00000000-0000-0000-0000-000000000000}"/>
          </ac:picMkLst>
        </pc:picChg>
        <pc:picChg chg="del">
          <ac:chgData name="Debasmita Sen" userId="604a8659d3ad02fe" providerId="LiveId" clId="{DAC3D150-A8BE-47BC-BA0D-D11B470FD69E}" dt="2026-05-20T05:03:57.310" v="107" actId="478"/>
          <ac:picMkLst>
            <pc:docMk/>
            <pc:sldMk cId="0" sldId="263"/>
            <ac:picMk id="206" creationId="{00000000-0000-0000-0000-000000000000}"/>
          </ac:picMkLst>
        </pc:picChg>
      </pc:sldChg>
      <pc:sldChg chg="addSp delSp modSp mod">
        <pc:chgData name="Debasmita Sen" userId="604a8659d3ad02fe" providerId="LiveId" clId="{DAC3D150-A8BE-47BC-BA0D-D11B470FD69E}" dt="2026-05-20T05:03:39.354" v="106" actId="14100"/>
        <pc:sldMkLst>
          <pc:docMk/>
          <pc:sldMk cId="0" sldId="266"/>
        </pc:sldMkLst>
        <pc:picChg chg="add mod">
          <ac:chgData name="Debasmita Sen" userId="604a8659d3ad02fe" providerId="LiveId" clId="{DAC3D150-A8BE-47BC-BA0D-D11B470FD69E}" dt="2026-05-20T05:03:39.354" v="106" actId="14100"/>
          <ac:picMkLst>
            <pc:docMk/>
            <pc:sldMk cId="0" sldId="266"/>
            <ac:picMk id="3" creationId="{E249AD83-F0EF-3B4D-D29E-86D12C0515B8}"/>
          </ac:picMkLst>
        </pc:picChg>
        <pc:picChg chg="del">
          <ac:chgData name="Debasmita Sen" userId="604a8659d3ad02fe" providerId="LiveId" clId="{DAC3D150-A8BE-47BC-BA0D-D11B470FD69E}" dt="2026-05-20T05:03:14.846" v="102" actId="478"/>
          <ac:picMkLst>
            <pc:docMk/>
            <pc:sldMk cId="0" sldId="266"/>
            <ac:picMk id="251" creationId="{00000000-0000-0000-0000-000000000000}"/>
          </ac:picMkLst>
        </pc:picChg>
      </pc:sldChg>
      <pc:sldChg chg="addSp delSp modSp mod">
        <pc:chgData name="Debasmita Sen" userId="604a8659d3ad02fe" providerId="LiveId" clId="{DAC3D150-A8BE-47BC-BA0D-D11B470FD69E}" dt="2026-05-20T05:03:03.500" v="101" actId="1076"/>
        <pc:sldMkLst>
          <pc:docMk/>
          <pc:sldMk cId="0" sldId="267"/>
        </pc:sldMkLst>
        <pc:picChg chg="add mod">
          <ac:chgData name="Debasmita Sen" userId="604a8659d3ad02fe" providerId="LiveId" clId="{DAC3D150-A8BE-47BC-BA0D-D11B470FD69E}" dt="2026-05-20T05:03:03.500" v="101" actId="1076"/>
          <ac:picMkLst>
            <pc:docMk/>
            <pc:sldMk cId="0" sldId="267"/>
            <ac:picMk id="3" creationId="{8493C577-267E-F85E-A9A1-2288CB4CC04B}"/>
          </ac:picMkLst>
        </pc:picChg>
        <pc:picChg chg="del">
          <ac:chgData name="Debasmita Sen" userId="604a8659d3ad02fe" providerId="LiveId" clId="{DAC3D150-A8BE-47BC-BA0D-D11B470FD69E}" dt="2026-05-20T05:02:40.413" v="98" actId="478"/>
          <ac:picMkLst>
            <pc:docMk/>
            <pc:sldMk cId="0" sldId="267"/>
            <ac:picMk id="264" creationId="{00000000-0000-0000-0000-000000000000}"/>
          </ac:picMkLst>
        </pc:picChg>
        <pc:picChg chg="del">
          <ac:chgData name="Debasmita Sen" userId="604a8659d3ad02fe" providerId="LiveId" clId="{DAC3D150-A8BE-47BC-BA0D-D11B470FD69E}" dt="2026-05-20T05:02:36.438" v="97" actId="478"/>
          <ac:picMkLst>
            <pc:docMk/>
            <pc:sldMk cId="0" sldId="267"/>
            <ac:picMk id="26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0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575550" y="1822601"/>
            <a:ext cx="7041000" cy="20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Inventory &amp; Supply Chain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0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Management</a:t>
            </a:r>
            <a:r>
              <a:rPr lang="en-US" sz="405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with Reorder Alerts</a:t>
            </a:r>
            <a:endParaRPr sz="4050" b="1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239812" y="3871590"/>
            <a:ext cx="5724600" cy="16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by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Debasmita Sen &amp; Rupali Jain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ANP-D5749 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Mentored by- Mr. Sayan Sau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090" y="2729599"/>
            <a:ext cx="121920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47E9AC-F3F2-18C9-F5FE-983C723AF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" y="212336"/>
            <a:ext cx="2148830" cy="9132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THE PROBLEM STATEMENT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904875" y="306615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Inefficient Manual Tracking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Reliance on static logs leads to human error and data inconsistencies.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04875" y="351189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Frequent Stockout Events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Absence of real-time alerts prevents proactive replenishment.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04875" y="395763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Data Fragmentation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Inventory, suppliers, and movements are tracked in silos, hindering visibility.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04875" y="440337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High Lead Times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Manual data entry and validation consume critical operational hours.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949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4523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90975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36715"/>
            <a:ext cx="1333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79352"/>
            <a:ext cx="3555950" cy="240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679352"/>
            <a:ext cx="3555950" cy="240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679352"/>
            <a:ext cx="3555950" cy="240402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SYSTEM OBJECTIVES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1394281" y="3574702"/>
            <a:ext cx="191023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Real-Time Tracking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66775" y="3850927"/>
            <a:ext cx="29654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Implement live stock calculation using dynamic formulas across Stock In/Out sheets.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210740" y="3574702"/>
            <a:ext cx="177022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Automated Alerts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4613225" y="385092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Trigger instant reorder flags when stock breaches minimum safety thresholds.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132212" y="3574702"/>
            <a:ext cx="14201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Visual Insights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8359675" y="3850927"/>
            <a:ext cx="29654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Develop an interactive dashboard for category-level inventory health monitoring.</a:t>
            </a:r>
            <a:endParaRPr/>
          </a:p>
        </p:txBody>
      </p:sp>
      <p:pic>
        <p:nvPicPr>
          <p:cNvPr id="119" name="Google Shape;11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82713" y="3012727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163" y="3012727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27989" y="3012727"/>
            <a:ext cx="428625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EXISTING VS. PROPOSED SYSTEM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9" name="Google Shape;129;p16"/>
          <p:cNvGraphicFramePr/>
          <p:nvPr/>
        </p:nvGraphicFramePr>
        <p:xfrm>
          <a:off x="571500" y="2828925"/>
          <a:ext cx="11049000" cy="2200250"/>
        </p:xfrm>
        <a:graphic>
          <a:graphicData uri="http://schemas.openxmlformats.org/drawingml/2006/table">
            <a:tbl>
              <a:tblPr firstRow="1" bandRow="1">
                <a:noFill/>
                <a:tableStyleId>{DC73472B-B3E6-411D-BCD4-AE809300D954}</a:tableStyleId>
              </a:tblPr>
              <a:tblGrid>
                <a:gridCol w="222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Existing Manual System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Proposed Automated System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Entry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Fully Manual / Slow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VBA Auto-Fill Enabled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Stock Updates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Periodical / Static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Real-time (SUMIF Logic)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Alerting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Visual Inspection Only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Automated Reorder Alerts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Analysis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Ad-hoc / Tedious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Dynamic Dashboard &amp; Pivots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0" name="Google Shape;130;p16"/>
          <p:cNvSpPr/>
          <p:nvPr/>
        </p:nvSpPr>
        <p:spPr>
          <a:xfrm>
            <a:off x="571500" y="37576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2794843" y="37576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6796980" y="37576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571500" y="41767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2794843" y="41767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6796980" y="41767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571500" y="45958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2794843" y="45958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6796980" y="45958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71500" y="50149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2794843" y="50149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6796980" y="50149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TOOLS &amp; TECHNOLOGIES USED</a:t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1599307" y="3711922"/>
            <a:ext cx="15001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Microsoft Excel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86677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core engine for data storage, calculations, and visual representation.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05764" y="3711922"/>
            <a:ext cx="138017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VBA (Macros)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461322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Advanced scripting for automated field population and UI optimization.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262229" y="3711922"/>
            <a:ext cx="11601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Power Pivot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835967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Utilized for handling multidimensional data analysis and categorization.</a:t>
            </a:r>
            <a:endParaRPr/>
          </a:p>
        </p:txBody>
      </p:sp>
      <p:pic>
        <p:nvPicPr>
          <p:cNvPr id="158" name="Google Shape;15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206525" y="3149947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351" y="314994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51801" y="3149947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167062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81625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96187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10750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SYSTEM EXECUTION WORKFLOW</a:t>
            </a:r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571500" y="3881437"/>
            <a:ext cx="11049000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1246822" y="3601491"/>
            <a:ext cx="84010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Raw Data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1066800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Ingestion of supply chain logs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3486388" y="3601491"/>
            <a:ext cx="790098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Cleaning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3281362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Data validation &amp; normalization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5625941" y="3601491"/>
            <a:ext cx="94011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Processing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5495925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SUMIF &amp; XLOOKUP Logic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7945516" y="3669952"/>
            <a:ext cx="73009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Analysis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7743825" y="3955702"/>
            <a:ext cx="1133475" cy="137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Pivot Table Generation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9995058" y="3601491"/>
            <a:ext cx="106013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Dashboards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925050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Visual reporting &amp; metrics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9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DATASET OVERVIEW</a:t>
            </a: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571500" y="4563367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Broad coverage including Fruits, Dairy, Grains, Bakery, Seafood, and Beverages.</a:t>
            </a:r>
            <a:endParaRPr/>
          </a:p>
        </p:txBody>
      </p:sp>
      <p:sp>
        <p:nvSpPr>
          <p:cNvPr id="192" name="Google Shape;192;p19"/>
          <p:cNvSpPr txBox="1"/>
          <p:nvPr/>
        </p:nvSpPr>
        <p:spPr>
          <a:xfrm>
            <a:off x="1658838" y="2810767"/>
            <a:ext cx="141922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124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1658838" y="3953767"/>
            <a:ext cx="14192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Unique Products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5252888" y="2810767"/>
            <a:ext cx="16383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5252888" y="3953767"/>
            <a:ext cx="1638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Product Categories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9066014" y="2810767"/>
            <a:ext cx="14668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55k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9066014" y="3953767"/>
            <a:ext cx="14668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Total Stock Units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0" descr="image.png"/>
          <p:cNvPicPr preferRelativeResize="0"/>
          <p:nvPr/>
        </p:nvPicPr>
        <p:blipFill rotWithShape="1">
          <a:blip r:embed="rId3">
            <a:alphaModFix/>
          </a:blip>
          <a:srcRect l="10030" r="-10030"/>
          <a:stretch/>
        </p:blipFill>
        <p:spPr>
          <a:xfrm>
            <a:off x="0" y="-8855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DATA CLEANING PROCESS</a:t>
            </a: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904875" y="3066157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Deduplication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Removed redundant records via Data Ribbon tool.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904875" y="3511897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ABS Conversion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Normalized negative stock values.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904875" y="3957637"/>
            <a:ext cx="5000700" cy="33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TRIM &amp; PROPER</a:t>
            </a:r>
            <a:r>
              <a:rPr lang="en-US" sz="1350" b="0" i="0" u="none" strike="noStrike" cap="none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: Fixed casing and </a:t>
            </a:r>
            <a:r>
              <a:rPr lang="en-US" sz="135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trailing</a:t>
            </a:r>
            <a:r>
              <a:rPr lang="en-US" sz="1350" b="0" i="0" u="none" strike="noStrike" cap="none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 white-spaces</a:t>
            </a:r>
            <a:r>
              <a:rPr lang="en-US" sz="1350" b="0" i="0" u="none" strike="noStrike" cap="none">
                <a:solidFill>
                  <a:schemeClr val="tx1">
                    <a:lumMod val="85000"/>
                    <a:lumOff val="15000"/>
                  </a:schemeClr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0" name="Google Shape;210;p20"/>
          <p:cNvSpPr txBox="1"/>
          <p:nvPr/>
        </p:nvSpPr>
        <p:spPr>
          <a:xfrm>
            <a:off x="904875" y="4403377"/>
            <a:ext cx="5000700" cy="33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Date Formatting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Standardized mixed date strings</a:t>
            </a:r>
            <a:endParaRPr sz="1350">
              <a:solidFill>
                <a:srgbClr val="334155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949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45234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90975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36715"/>
            <a:ext cx="1524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0"/>
          <p:cNvSpPr txBox="1"/>
          <p:nvPr/>
        </p:nvSpPr>
        <p:spPr>
          <a:xfrm>
            <a:off x="-258425" y="2899875"/>
            <a:ext cx="61641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9B8B8F-A1AF-623B-1884-1F3D5222F0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8850" y="507154"/>
            <a:ext cx="5905673" cy="26961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7E2E92-87CB-05A0-C493-0F35D3E27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7030" y="3511897"/>
            <a:ext cx="5904945" cy="26965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E3C88A-6771-7184-9AE5-D959EB670394}"/>
              </a:ext>
            </a:extLst>
          </p:cNvPr>
          <p:cNvSpPr txBox="1"/>
          <p:nvPr/>
        </p:nvSpPr>
        <p:spPr>
          <a:xfrm>
            <a:off x="876125" y="2571972"/>
            <a:ext cx="4733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Null Value Handling: Blanks handled using Go to Special Feature.</a:t>
            </a:r>
            <a:endParaRPr lang="en-IN">
              <a:solidFill>
                <a:schemeClr val="bg2">
                  <a:lumMod val="50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D78A02-0819-9350-02FE-20063179E6B4}"/>
              </a:ext>
            </a:extLst>
          </p:cNvPr>
          <p:cNvSpPr txBox="1"/>
          <p:nvPr/>
        </p:nvSpPr>
        <p:spPr>
          <a:xfrm>
            <a:off x="504476" y="2553630"/>
            <a:ext cx="282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060"/>
                </a:solidFill>
              </a:rPr>
              <a:t>O</a:t>
            </a:r>
            <a:endParaRPr lang="en-IN" b="1">
              <a:solidFill>
                <a:srgbClr val="00206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9019EF-37EE-9CBB-F098-C2344189B0DA}"/>
              </a:ext>
            </a:extLst>
          </p:cNvPr>
          <p:cNvSpPr txBox="1"/>
          <p:nvPr/>
        </p:nvSpPr>
        <p:spPr>
          <a:xfrm>
            <a:off x="787135" y="4843754"/>
            <a:ext cx="44416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Unwanted Data: Unnecessary data removed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.</a:t>
            </a:r>
            <a:endParaRPr lang="en-IN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75BF1B-4D23-B661-4297-B350E6D95012}"/>
              </a:ext>
            </a:extLst>
          </p:cNvPr>
          <p:cNvSpPr txBox="1"/>
          <p:nvPr/>
        </p:nvSpPr>
        <p:spPr>
          <a:xfrm>
            <a:off x="504476" y="4843755"/>
            <a:ext cx="200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2">
                    <a:lumMod val="75000"/>
                  </a:schemeClr>
                </a:solidFill>
              </a:rPr>
              <a:t>X</a:t>
            </a:r>
            <a:endParaRPr lang="en-IN" b="1">
              <a:solidFill>
                <a:schemeClr val="bg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1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EXCEL FUNCTIONS ENGINE</a:t>
            </a:r>
            <a:endParaRPr/>
          </a:p>
        </p:txBody>
      </p:sp>
      <p:sp>
        <p:nvSpPr>
          <p:cNvPr id="222" name="Google Shape;222;p21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 txBox="1"/>
          <p:nvPr/>
        </p:nvSpPr>
        <p:spPr>
          <a:xfrm>
            <a:off x="904875" y="306615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SUMIF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Dynamically subtracts Stock Out from Stock In per Product ID.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904875" y="351189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XLOOKUP / VLOOKUP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Auto-populates supplier and location details.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904875" y="395763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IF &amp; IFERROR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Manages logic for reorder status and suppresses error codes.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904875" y="440337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COUNTIFS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Aggregates the number of products needing reorder per category.</a:t>
            </a:r>
            <a:endParaRPr/>
          </a:p>
        </p:txBody>
      </p:sp>
      <p:pic>
        <p:nvPicPr>
          <p:cNvPr id="227" name="Google Shape;22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9494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4523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90975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36715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16460"/>
            <a:ext cx="5334000" cy="1529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979390"/>
            <a:ext cx="5334000" cy="180394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2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VBA AUTOMATION CAPABILITIES</a:t>
            </a:r>
            <a:endParaRPr/>
          </a:p>
        </p:txBody>
      </p:sp>
      <p:sp>
        <p:nvSpPr>
          <p:cNvPr id="239" name="Google Shape;239;p22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2"/>
          <p:cNvSpPr txBox="1"/>
          <p:nvPr/>
        </p:nvSpPr>
        <p:spPr>
          <a:xfrm>
            <a:off x="866775" y="3411735"/>
            <a:ext cx="248031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Macro-Powered Auto-Fill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866775" y="3687960"/>
            <a:ext cx="47434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Eliminates repetitive typing by instantly populating Product Name, Supplier, and Warehouse Location upon Product ID entry.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6581775" y="3274665"/>
            <a:ext cx="236029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Dynamic Event Handling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6581775" y="3550890"/>
            <a:ext cx="47434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Scripts run on 'Worksheet_Change' events, ensuring that the system remains responsive to user input without manual triggers.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3"/>
          <p:cNvSpPr txBox="1"/>
          <p:nvPr/>
        </p:nvSpPr>
        <p:spPr>
          <a:xfrm>
            <a:off x="762000" y="571500"/>
            <a:ext cx="50006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INVENTORY DASHBOARD</a:t>
            </a:r>
            <a:endParaRPr/>
          </a:p>
        </p:txBody>
      </p:sp>
      <p:sp>
        <p:nvSpPr>
          <p:cNvPr id="250" name="Google Shape;250;p23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 txBox="1"/>
          <p:nvPr/>
        </p:nvSpPr>
        <p:spPr>
          <a:xfrm>
            <a:off x="571500" y="4309020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dashboard centralizes key KPIs, allowing warehouse managers to assess inventory health in under 5 seconds.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904875" y="2971800"/>
            <a:ext cx="4619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Visual stock distribution.</a:t>
            </a:r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904875" y="3417540"/>
            <a:ext cx="4619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Instant alert highlight.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904875" y="3863280"/>
            <a:ext cx="4619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Category-level drill down.</a:t>
            </a:r>
            <a:endParaRPr/>
          </a:p>
        </p:txBody>
      </p:sp>
      <p:pic>
        <p:nvPicPr>
          <p:cNvPr id="256" name="Google Shape;25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0513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45087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8966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249AD83-F0EF-3B4D-D29E-86D12C0515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4500" y="1437686"/>
            <a:ext cx="6233746" cy="40998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4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PIVOT TABLE ANALYSIS</a:t>
            </a:r>
            <a:endParaRPr/>
          </a:p>
        </p:txBody>
      </p:sp>
      <p:sp>
        <p:nvSpPr>
          <p:cNvPr id="266" name="Google Shape;266;p2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4"/>
          <p:cNvSpPr txBox="1"/>
          <p:nvPr/>
        </p:nvSpPr>
        <p:spPr>
          <a:xfrm>
            <a:off x="571500" y="2862262"/>
            <a:ext cx="5334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system utilizes Pivot Tables for multi-dimensional data interrogation, allowing for:</a:t>
            </a:r>
            <a:endParaRPr/>
          </a:p>
        </p:txBody>
      </p:sp>
      <p:sp>
        <p:nvSpPr>
          <p:cNvPr id="269" name="Google Shape;269;p24"/>
          <p:cNvSpPr txBox="1"/>
          <p:nvPr/>
        </p:nvSpPr>
        <p:spPr>
          <a:xfrm>
            <a:off x="904875" y="3563242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Comparison of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Stock In vs. Stock Out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by category.</a:t>
            </a:r>
            <a:endParaRPr/>
          </a:p>
        </p:txBody>
      </p:sp>
      <p:sp>
        <p:nvSpPr>
          <p:cNvPr id="270" name="Google Shape;270;p24"/>
          <p:cNvSpPr txBox="1"/>
          <p:nvPr/>
        </p:nvSpPr>
        <p:spPr>
          <a:xfrm>
            <a:off x="904875" y="4008983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Supplier performance and lead time assessment.</a:t>
            </a:r>
            <a:endParaRPr/>
          </a:p>
        </p:txBody>
      </p:sp>
      <p:sp>
        <p:nvSpPr>
          <p:cNvPr id="271" name="Google Shape;271;p24"/>
          <p:cNvSpPr txBox="1"/>
          <p:nvPr/>
        </p:nvSpPr>
        <p:spPr>
          <a:xfrm>
            <a:off x="904875" y="4454723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Identification of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Low-Turnover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items to optimize shelf space.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3C577-267E-F85E-A9A1-2288CB4CC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6738" y="1742342"/>
            <a:ext cx="6425424" cy="31048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6375"/>
            <a:ext cx="11049000" cy="481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5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CATEGORY SUMMARY STATISTICS</a:t>
            </a:r>
            <a:endParaRPr/>
          </a:p>
        </p:txBody>
      </p:sp>
      <p:sp>
        <p:nvSpPr>
          <p:cNvPr id="279" name="Google Shape;279;p2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4711005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Total Aggregate Inventory: 55,039 Units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6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IMPLEMENTATION CHALLENGES</a:t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6"/>
          <p:cNvSpPr txBox="1"/>
          <p:nvPr/>
        </p:nvSpPr>
        <p:spPr>
          <a:xfrm>
            <a:off x="904875" y="3288952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Cross-Sheet Integration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Synchronizing Stock In/Out movements without formula lag.</a:t>
            </a:r>
            <a:endParaRPr/>
          </a:p>
        </p:txBody>
      </p:sp>
      <p:sp>
        <p:nvSpPr>
          <p:cNvPr id="289" name="Google Shape;289;p26"/>
          <p:cNvSpPr txBox="1"/>
          <p:nvPr/>
        </p:nvSpPr>
        <p:spPr>
          <a:xfrm>
            <a:off x="904875" y="3734692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Macro Security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Ensuring consistent performance across different Excel security environments.</a:t>
            </a:r>
            <a:endParaRPr/>
          </a:p>
        </p:txBody>
      </p:sp>
      <p:sp>
        <p:nvSpPr>
          <p:cNvPr id="290" name="Google Shape;290;p26"/>
          <p:cNvSpPr txBox="1"/>
          <p:nvPr/>
        </p:nvSpPr>
        <p:spPr>
          <a:xfrm>
            <a:off x="904875" y="4180433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Raw Data Noise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Managing inconsistent input formats from multiple suppliers.</a:t>
            </a:r>
            <a:endParaRPr/>
          </a:p>
        </p:txBody>
      </p:sp>
      <p:pic>
        <p:nvPicPr>
          <p:cNvPr id="291" name="Google Shape;29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2229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76803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213770"/>
            <a:ext cx="1905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7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FUTURE SYSTEM ROADMAP</a:t>
            </a:r>
            <a:endParaRPr/>
          </a:p>
        </p:txBody>
      </p:sp>
      <p:sp>
        <p:nvSpPr>
          <p:cNvPr id="303" name="Google Shape;303;p2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1564302" y="3711922"/>
            <a:ext cx="157019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Cloud Migration</a:t>
            </a:r>
            <a:endParaRPr/>
          </a:p>
        </p:txBody>
      </p:sp>
      <p:sp>
        <p:nvSpPr>
          <p:cNvPr id="305" name="Google Shape;305;p27"/>
          <p:cNvSpPr txBox="1"/>
          <p:nvPr/>
        </p:nvSpPr>
        <p:spPr>
          <a:xfrm>
            <a:off x="86677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Transitioning to Power BI or SQL for larger dataset scalability.</a:t>
            </a:r>
            <a:endParaRPr/>
          </a:p>
        </p:txBody>
      </p:sp>
      <p:sp>
        <p:nvSpPr>
          <p:cNvPr id="306" name="Google Shape;306;p27"/>
          <p:cNvSpPr txBox="1"/>
          <p:nvPr/>
        </p:nvSpPr>
        <p:spPr>
          <a:xfrm>
            <a:off x="5480774" y="3711922"/>
            <a:ext cx="123015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Predictive AI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461322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Forecasting seasonal demand peaks using machine learning plugins.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9182219" y="3711922"/>
            <a:ext cx="132016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RFID/Barcode</a:t>
            </a:r>
            <a:endParaRPr/>
          </a:p>
        </p:txBody>
      </p:sp>
      <p:sp>
        <p:nvSpPr>
          <p:cNvPr id="309" name="Google Shape;309;p27"/>
          <p:cNvSpPr txBox="1"/>
          <p:nvPr/>
        </p:nvSpPr>
        <p:spPr>
          <a:xfrm>
            <a:off x="835967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Integration with hardware for touchless stock entry.</a:t>
            </a:r>
            <a:endParaRPr/>
          </a:p>
        </p:txBody>
      </p:sp>
      <p:pic>
        <p:nvPicPr>
          <p:cNvPr id="310" name="Google Shape;310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1275" y="3149947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726" y="3149947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51801" y="3149947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8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/>
          </a:p>
        </p:txBody>
      </p:sp>
      <p:sp>
        <p:nvSpPr>
          <p:cNvPr id="319" name="Google Shape;319;p2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8"/>
          <p:cNvSpPr txBox="1"/>
          <p:nvPr/>
        </p:nvSpPr>
        <p:spPr>
          <a:xfrm>
            <a:off x="2667000" y="2909887"/>
            <a:ext cx="6858000" cy="128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"Efficiency in the supply chain is no longer a luxury; it is the fundamental requirement for operational continuity."</a:t>
            </a:r>
            <a:endParaRPr/>
          </a:p>
        </p:txBody>
      </p:sp>
      <p:sp>
        <p:nvSpPr>
          <p:cNvPr id="321" name="Google Shape;321;p28"/>
          <p:cNvSpPr txBox="1"/>
          <p:nvPr/>
        </p:nvSpPr>
        <p:spPr>
          <a:xfrm>
            <a:off x="2286000" y="4494758"/>
            <a:ext cx="7620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This automated solution successfully reduces manual intervention by 70%, providing a reliable and scalable inventory tracking framework.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9"/>
          <p:cNvSpPr txBox="1"/>
          <p:nvPr/>
        </p:nvSpPr>
        <p:spPr>
          <a:xfrm>
            <a:off x="295275" y="1900237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17</Slides>
  <Notes>17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modified xsi:type="dcterms:W3CDTF">2026-05-20T05:37:33Z</dcterms:modified>
</cp:coreProperties>
</file>